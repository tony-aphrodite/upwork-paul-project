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2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1F4E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32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Architecture and schema sign-off</c:v>
                  </c:pt>
                  <c:pt idx="1">
                    <c:v>Plan engine and module framework</c:v>
                  </c:pt>
                  <c:pt idx="2">
                    <c:v>Module content from your repository</c:v>
                  </c:pt>
                  <c:pt idx="3">
                    <c:v>Document templates and PDF service</c:v>
                  </c:pt>
                  <c:pt idx="4">
                    <c:v>Storage, versions and admin console</c:v>
                  </c:pt>
                  <c:pt idx="5">
                    <c:v>Security: access, storage, links, audit</c:v>
                  </c:pt>
                  <c:pt idx="6">
                    <c:v>Test cases, PDF checks and fixes</c:v>
                  </c:pt>
                  <c:pt idx="7">
                    <c:v>Technical documentation and handover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24</c:v>
                </c:pt>
                <c:pt idx="2">
                  <c:v>16</c:v>
                </c:pt>
                <c:pt idx="3">
                  <c:v>26</c:v>
                </c:pt>
                <c:pt idx="4">
                  <c:v>22</c:v>
                </c:pt>
                <c:pt idx="5">
                  <c:v>12</c:v>
                </c:pt>
                <c:pt idx="6">
                  <c:v>12</c:v>
                </c:pt>
                <c:pt idx="7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32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 dollars</c:v>
                </c:pt>
              </c:strCache>
            </c:strRef>
          </c:tx>
          <c:spPr>
            <a:solidFill>
              <a:srgbClr val="1F4E5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A45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Time saved, new plans</c:v>
                  </c:pt>
                  <c:pt idx="1">
                    <c:v>Time saved, updates</c:v>
                  </c:pt>
                  <c:pt idx="2">
                    <c:v>First-year cost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59400</c:v>
                </c:pt>
                <c:pt idx="1">
                  <c:v>16500</c:v>
                </c:pt>
                <c:pt idx="2">
                  <c:v>5800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926080"/>
            <a:ext cx="6400800" cy="6400800"/>
          </a:xfrm>
          <a:prstGeom prst="ellipse">
            <a:avLst/>
          </a:prstGeom>
          <a:solidFill>
            <a:srgbClr val="1F4E5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E0A458">
              <a:alpha val="18000"/>
            </a:srgbClr>
          </a:solidFill>
          <a:ln/>
        </p:spPr>
      </p:sp>
      <p:pic>
        <p:nvPicPr>
          <p:cNvPr id="4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768096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Valdis Licis · Full-stack and document systems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A458"/>
                </a:solidFill>
              </a:rPr>
              <a:t>ACTION PLAN · TECHNICAL AND BUSINESS PLAN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living Family Action Plan, built on structured data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731520" y="4023360"/>
            <a:ext cx="5577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E5"/>
                </a:solidFill>
              </a:rPr>
              <a:t>Architecture, data design, document generation and stages for the first version of your Action Plan system, with a working proof of concept built to the brief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5029200"/>
            <a:ext cx="4937760" cy="0"/>
          </a:xfrm>
          <a:prstGeom prst="line">
            <a:avLst/>
          </a:prstGeom>
          <a:noFill/>
          <a:ln w="25400">
            <a:solidFill>
              <a:srgbClr val="E0A4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16636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5C9CF"/>
                </a:solidFill>
              </a:rPr>
              <a:t>7 fictional families · 18 conditional modules · 2 PDF documents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5C9CF"/>
                </a:solidFill>
              </a:rPr>
              <a:t>39 automated tests, including real PDF rendering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5C9CF"/>
                </a:solidFill>
              </a:rPr>
              <a:t>Prepared by Valdis Licis · 22 September 2026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04304" y="1014984"/>
            <a:ext cx="2844918" cy="4023360"/>
          </a:xfrm>
          <a:prstGeom prst="rect">
            <a:avLst/>
          </a:prstGeom>
          <a:solidFill>
            <a:srgbClr val="C9D2D5"/>
          </a:solidFill>
          <a:ln w="12700">
            <a:solidFill>
              <a:srgbClr val="C9D2D5"/>
            </a:solidFill>
            <a:prstDash val="solid"/>
          </a:ln>
        </p:spPr>
      </p:sp>
      <p:pic>
        <p:nvPicPr>
          <p:cNvPr id="12" name="Image 1" descr="/tmp/claude-1000/-home-ph-Client-Upwork-ritvia/b09148c5-7830-4dd8-977f-982890f12fbc/scratchpad/kfdeck/pa-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60120"/>
            <a:ext cx="2844918" cy="40233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949440" y="960120"/>
            <a:ext cx="2844918" cy="4023360"/>
          </a:xfrm>
          <a:prstGeom prst="rect">
            <a:avLst/>
          </a:prstGeom>
          <a:ln w="12700">
            <a:solidFill>
              <a:srgbClr val="D8DEE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833104" y="1472184"/>
            <a:ext cx="2844918" cy="4023360"/>
          </a:xfrm>
          <a:prstGeom prst="rect">
            <a:avLst/>
          </a:prstGeom>
          <a:solidFill>
            <a:srgbClr val="C9D2D5"/>
          </a:solidFill>
          <a:ln w="12700">
            <a:solidFill>
              <a:srgbClr val="C9D2D5"/>
            </a:solidFill>
            <a:prstDash val="solid"/>
          </a:ln>
        </p:spPr>
      </p:sp>
      <p:pic>
        <p:nvPicPr>
          <p:cNvPr id="15" name="Image 2" descr="/tmp/claude-1000/-home-ph-Client-Upwork-ritvia/b09148c5-7830-4dd8-977f-982890f12fbc/scratchpad/kfdeck/pa-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417320"/>
            <a:ext cx="2844918" cy="40233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778240" y="1417320"/>
            <a:ext cx="2844918" cy="4023360"/>
          </a:xfrm>
          <a:prstGeom prst="rect">
            <a:avLst/>
          </a:prstGeom>
          <a:ln w="12700">
            <a:solidFill>
              <a:srgbClr val="D8DEE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675120" y="5760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5C9CF"/>
                </a:solidFill>
              </a:rPr>
              <a:t>Pages from a generated Family Action Plan (fictional family)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1. 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plan is the data; the PDF is one view of 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5F66"/>
                </a:solidFill>
              </a:rPr>
              <a:t>Kinfield Navigator is a placeholder name; every family in the demo is fictional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2</a:t>
            </a:r>
            <a:endParaRPr lang="en-US" sz="900" dirty="0"/>
          </a:p>
        </p:txBody>
      </p:sp>
      <p:pic>
        <p:nvPicPr>
          <p:cNvPr id="9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17830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323A"/>
                </a:solidFill>
              </a:rPr>
              <a:t>You want the first version of a system that turns a family's situation into a clear, prioritised Action Plan and a professional PDF, built so the questionnaire, AI, knowledge repository and dashboards can connect later. The proof of concept does exactly that, and this plan sets out how I would take it to your MVP.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320040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B2A30"/>
                </a:solidFill>
              </a:rPr>
              <a:t>Structured first: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323A"/>
                </a:solidFill>
              </a:rPr>
              <a:t>profile and plan are validated JSON records; every action has its own key, priority, owner and status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B2A30"/>
                </a:solidFill>
              </a:rPr>
              <a:t>Conditional modules as data: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323A"/>
                </a:solidFill>
              </a:rPr>
              <a:t>18 topics switch on by rule; new ones need no code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B2A30"/>
                </a:solidFill>
              </a:rPr>
              <a:t>A living plan: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323A"/>
                </a:solidFill>
              </a:rPr>
              <a:t>updates carry progress forward and every version is kept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B2A30"/>
                </a:solidFill>
              </a:rPr>
              <a:t>Professional documents: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323A"/>
                </a:solidFill>
              </a:rPr>
              <a:t>HTML/CSS to PDF with Chromium, tested on short and long plans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75120" y="17830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18928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7 / 7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858000" y="2404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test families rendered; every summary on one page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235440" y="17830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0" y="18928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39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418320" y="2404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automated tests, 5 of 5 deliberate bugs caught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75120" y="30632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0" y="31729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130 h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858000" y="36850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estimated MVP, $5,200 at the planning rate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235440" y="30632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18320" y="31729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~6 weeks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9418320" y="36850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from schema sign-off to handover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675120" y="4434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323A"/>
                </a:solidFill>
              </a:rPr>
              <a:t>The proof of concept already covers all ten items in the brief's initial scope; the MVP adds real storage, your content and production security.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2. THE BRIEF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ten items in the initial scope, and where each one stands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3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Initial scope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 the proof of concept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1. Recommended technical architecture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Documented, with diagrams, table design and trade-offs (slides 9 and 24)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2. Family Profile data structure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Validated schema with 17 sections and an extra field for new questions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3. Action Plan data structure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Versioned record; each action stored separately with status and dates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4. Modular, conditional system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18 modules defined as data; only relevant ones appear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5. Reusable HTML/CSS template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One template for preview and PDF; empty sections left out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6. PDF generation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Headless Chromium; tagged PDFs; footers and page numbers in CSS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7. Professional Summary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Second template over the same record; one page for every test case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8. Internal test and preview interface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Signed-in console: paste or upload, preview, generate, change, regenerate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9. Updates and versioning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Plan ID, dates, versions; progress carried forward; changes recorded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10. Documentation for integration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Docs page, JSON Schemas and API reference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3. WHO THE SYSTEM SERVES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readers of the same record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4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5544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737360"/>
            <a:ext cx="457200" cy="54864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0"/>
                </a:solidFill>
              </a:rPr>
              <a:t>Families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224028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A clear plan: what matters now, what to do next, who can help, and a checklist to work through.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3152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5F66"/>
                </a:solidFill>
              </a:rPr>
              <a:t>Uses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4E5F"/>
                </a:solidFill>
              </a:rPr>
              <a:t>Family Action Plan PDF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364992" y="15544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47872" y="1737360"/>
            <a:ext cx="457200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7" name="Text 14"/>
          <p:cNvSpPr/>
          <p:nvPr/>
        </p:nvSpPr>
        <p:spPr>
          <a:xfrm>
            <a:off x="3547872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0"/>
                </a:solidFill>
              </a:rPr>
              <a:t>Navigators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547872" y="224028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A structured plan they can update with the family, instead of rewriting a document each time.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547872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5F66"/>
                </a:solidFill>
              </a:rPr>
              <a:t>Uses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547872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4E5F"/>
                </a:solidFill>
              </a:rPr>
              <a:t>Admin console, versions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181344" y="15544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64224" y="1737360"/>
            <a:ext cx="457200" cy="54864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23" name="Text 20"/>
          <p:cNvSpPr/>
          <p:nvPr/>
        </p:nvSpPr>
        <p:spPr>
          <a:xfrm>
            <a:off x="6364224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0"/>
                </a:solidFill>
              </a:rPr>
              <a:t>Professionals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364224" y="224028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A short, factual summary a GP, assessor or care provider can read in two minutes.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364224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5F66"/>
                </a:solidFill>
              </a:rPr>
              <a:t>Uses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364224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4E5F"/>
                </a:solidFill>
              </a:rPr>
              <a:t>Professional Summary PDF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997696" y="15544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180576" y="1737360"/>
            <a:ext cx="457200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29" name="Text 26"/>
          <p:cNvSpPr/>
          <p:nvPr/>
        </p:nvSpPr>
        <p:spPr>
          <a:xfrm>
            <a:off x="9180576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0"/>
                </a:solidFill>
              </a:rPr>
              <a:t>Future systems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180576" y="224028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Questionnaire, AI, dashboards and reminders read and write the same JSON through the API.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9180576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5F66"/>
                </a:solidFill>
              </a:rPr>
              <a:t>Uses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180576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4E5F"/>
                </a:solidFill>
              </a:rPr>
              <a:t>Schemas and API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323A"/>
                </a:solidFill>
              </a:rPr>
              <a:t>Because every reader works from one record, nothing is typed twice: the summary, the plan and any future dashboard always agree.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4. WHY IT MATTERS IN NEW ZEALAND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older people, and families carrying much of the work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5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5544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6642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1 million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31520" y="21762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New Zealanders aged 65+ projected by 2028 (Stats NZ)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15544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16642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1.5 million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566160" y="21762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aged 65+ by the 2050s, about a quarter of the population (Stats NZ)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15544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16642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83,000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400800" y="21762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people living with dementia in 2025, rising to about 170,000 by 2050 (Alzheimers NZ)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52560" y="15544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35440" y="16642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23B2C"/>
                </a:solidFill>
              </a:rPr>
              <a:t>53m h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235440" y="21762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of unpaid care a year from dementia care partners (Alzheimers NZ)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What that means for an Action Plan service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8640" y="3429000"/>
            <a:ext cx="6583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B2A30"/>
                </a:solidFill>
              </a:rPr>
              <a:t>Families face many systems at once: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323A"/>
                </a:solidFill>
              </a:rPr>
              <a:t>needs assessments, subsidies, EPOAs, care options, hospital discharge.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B2A30"/>
                </a:solidFill>
              </a:rPr>
              <a:t>The value is in the order of things: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323A"/>
                </a:solidFill>
              </a:rPr>
              <a:t>what to do now, what can wait, and who to ask.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B2A30"/>
                </a:solidFill>
              </a:rPr>
              <a:t>Plans must change as life does: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323A"/>
                </a:solidFill>
              </a:rPr>
              <a:t>a fall, a diagnosis or a discharge changes the priorities overnight.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B2A30"/>
                </a:solidFill>
              </a:rPr>
              <a:t>Volume will grow: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323A"/>
                </a:solidFill>
              </a:rPr>
              <a:t>a structured, reusable system scales where hand-written plans cannot.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284464" y="3072384"/>
            <a:ext cx="2198346" cy="3108960"/>
          </a:xfrm>
          <a:prstGeom prst="rect">
            <a:avLst/>
          </a:prstGeom>
          <a:solidFill>
            <a:srgbClr val="C9D2D5"/>
          </a:solidFill>
          <a:ln w="12700">
            <a:solidFill>
              <a:srgbClr val="C9D2D5"/>
            </a:solidFill>
            <a:prstDash val="solid"/>
          </a:ln>
        </p:spPr>
      </p:sp>
      <p:pic>
        <p:nvPicPr>
          <p:cNvPr id="24" name="Image 1" descr="/tmp/claude-1000/-home-ph-Client-Upwork-ritvia/b09148c5-7830-4dd8-977f-982890f12fbc/scratchpad/kfdeck/pa-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017520"/>
            <a:ext cx="2198346" cy="310896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8229600" y="3017520"/>
            <a:ext cx="2198346" cy="3108960"/>
          </a:xfrm>
          <a:prstGeom prst="rect">
            <a:avLst/>
          </a:prstGeom>
          <a:ln w="12700">
            <a:solidFill>
              <a:srgbClr val="D8DEE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955280" y="6199632"/>
            <a:ext cx="27469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F5F66"/>
                </a:solidFill>
              </a:rPr>
              <a:t>Recommended next steps, by priority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5. APPROACHES CONSIDERED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structured system, not a smarter template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6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50292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Weakness for your goals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323A"/>
                          </a:solidFill>
                        </a:rPr>
                        <a:t>Canva or Word template, edited by hand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23A"/>
                          </a:solidFill>
                        </a:rPr>
                        <a:t>Fast to start, looks good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23A"/>
                          </a:solidFill>
                        </a:rPr>
                        <a:t>Every plan rewritten; no data to update, track or reuse (your brief rules this out)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323A"/>
                          </a:solidFill>
                        </a:rPr>
                        <a:t>PDF form fields or a document-merge service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23A"/>
                          </a:solidFill>
                        </a:rPr>
                        <a:t>Consistent layout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23A"/>
                          </a:solidFill>
                        </a:rPr>
                        <a:t>Fixed boxes overflow; sections cannot appear or disappear cleanly; data lives in the PDF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323A"/>
                          </a:solidFill>
                        </a:rPr>
                        <a:t>AI writes the whole plan as free text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23A"/>
                          </a:solidFill>
                        </a:rPr>
                        <a:t>Personal tone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23A"/>
                          </a:solidFill>
                        </a:rPr>
                        <a:t>Hard to check, version or act on; inconsistent structure between families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323A"/>
                          </a:solidFill>
                        </a:rPr>
                        <a:t>Structured plan + templates (this plan)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23A"/>
                          </a:solidFill>
                        </a:rPr>
                        <a:t>Data-first, consistent, updatable, AI-ready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23A"/>
                          </a:solidFill>
                        </a:rPr>
                        <a:t>Needs careful schema design up front, which is stage 1 of the plan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8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323A"/>
                </a:solidFill>
              </a:rPr>
              <a:t>AI still has a clear role: suggesting actions or personalised wording that the system validates against the same schema before a person reviews 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6. PESTEL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Outside forces on a New Zealand ageing-navigation service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7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737360"/>
            <a:ext cx="457200" cy="54864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0"/>
                </a:solidFill>
              </a:rPr>
              <a:t>Political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224028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Funding rules for home support, residential care and carers change with policy; plans must show review dates.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79392" y="15544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2272" y="1737360"/>
            <a:ext cx="457200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5" name="Text 12"/>
          <p:cNvSpPr/>
          <p:nvPr/>
        </p:nvSpPr>
        <p:spPr>
          <a:xfrm>
            <a:off x="4462272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0"/>
                </a:solidFill>
              </a:rPr>
              <a:t>Economic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462272" y="224028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Care costs and asset thresholds shift every year; the plan cites the figures with the date they apply.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10144" y="15544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93024" y="1737360"/>
            <a:ext cx="457200" cy="54864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9" name="Text 16"/>
          <p:cNvSpPr/>
          <p:nvPr/>
        </p:nvSpPr>
        <p:spPr>
          <a:xfrm>
            <a:off x="8193024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0"/>
                </a:solidFill>
              </a:rPr>
              <a:t>Social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93024" y="224028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An ageing population and stretched family carers; plain language and clear priorities matter.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3886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4069080"/>
            <a:ext cx="457200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0"/>
                </a:solidFill>
              </a:rPr>
              <a:t>Technological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31520" y="457200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Structured AI output and schema validation make AI safe to add later, with people in the loop.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279392" y="3886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62272" y="4069080"/>
            <a:ext cx="457200" cy="54864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27" name="Text 24"/>
          <p:cNvSpPr/>
          <p:nvPr/>
        </p:nvSpPr>
        <p:spPr>
          <a:xfrm>
            <a:off x="4462272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0"/>
                </a:solidFill>
              </a:rPr>
              <a:t>Environmental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462272" y="457200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Digital-first plans reduce printing; PDFs remain for people who prefer paper.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010144" y="3886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193024" y="4069080"/>
            <a:ext cx="457200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1" name="Text 28"/>
          <p:cNvSpPr/>
          <p:nvPr/>
        </p:nvSpPr>
        <p:spPr>
          <a:xfrm>
            <a:off x="8193024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0"/>
                </a:solidFill>
              </a:rPr>
              <a:t>Legal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193024" y="457200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The Privacy Act 2020 and the Health Information Privacy Code apply to personal health information.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7. SWOT OF THE ENGAGEMENT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honest view from my side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8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5087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E7EFF1"/>
          </a:solidFill>
          <a:ln w="12700">
            <a:solidFill>
              <a:srgbClr val="D8DE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Strengths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205740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323A"/>
                </a:solidFill>
              </a:rPr>
              <a:t>A working proof of concept built to your brief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323A"/>
                </a:solidFill>
              </a:rPr>
              <a:t>Schema design, document generation and structured AI output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323A"/>
                </a:solidFill>
              </a:rPr>
              <a:t>Testing habits: real PDF checks, deliberate-bug checks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26480" y="15087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6F1E8"/>
          </a:solidFill>
          <a:ln w="12700">
            <a:solidFill>
              <a:srgbClr val="D8DE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3B2C"/>
                </a:solidFill>
              </a:rPr>
              <a:t>Weaknesses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55080" y="205740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323A"/>
                </a:solidFill>
              </a:rPr>
              <a:t>Not a New Zealand aged-care specialist; content must come from your team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323A"/>
                </a:solidFill>
              </a:rPr>
              <a:t>Module wording in the demo is a placeholder for your repository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323A"/>
                </a:solidFill>
              </a:rPr>
              <a:t>One developer, so reviews need to be timely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88620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6F1E8"/>
          </a:solidFill>
          <a:ln w="12700">
            <a:solidFill>
              <a:srgbClr val="D8DE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Opportunities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7240" y="44348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323A"/>
                </a:solidFill>
              </a:rPr>
              <a:t>A foundation that dashboards, reminders and paid support can build 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323A"/>
                </a:solidFill>
              </a:rPr>
              <a:t>Navigator time freed from writing documents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323A"/>
                </a:solidFill>
              </a:rPr>
              <a:t>Consistent quality across every family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26480" y="388620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E7EFF1"/>
          </a:solidFill>
          <a:ln w="12700">
            <a:solidFill>
              <a:srgbClr val="D8DE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3B2C"/>
                </a:solidFill>
              </a:rPr>
              <a:t>Threats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55080" y="44348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323A"/>
                </a:solidFill>
              </a:rPr>
              <a:t>Schema changes late in the build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323A"/>
                </a:solidFill>
              </a:rPr>
              <a:t>Content not ready when templates are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323A"/>
                </a:solidFill>
              </a:rPr>
              <a:t>Privacy obligations growing with real data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8. RECOMMENDED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TypeScript codebase, Postgres, object storage and Chromium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9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6459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1F4E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6459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5F"/>
                </a:solidFill>
              </a:rPr>
              <a:t>Questionnaire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4E5F"/>
                </a:solidFill>
              </a:rPr>
              <a:t>later stage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258568" y="2057400"/>
            <a:ext cx="155448" cy="182880"/>
          </a:xfrm>
          <a:prstGeom prst="rightArrow">
            <a:avLst/>
          </a:prstGeom>
          <a:solidFill>
            <a:srgbClr val="4F5F66"/>
          </a:solidFill>
          <a:ln w="12700">
            <a:solidFill>
              <a:srgbClr val="4F5F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23160" y="16459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1F4E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23160" y="16459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5F"/>
                </a:solidFill>
              </a:rPr>
              <a:t>Profile mapper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4E5F"/>
                </a:solidFill>
              </a:rPr>
              <a:t>answers → Family Profile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33088" y="2057400"/>
            <a:ext cx="155448" cy="182880"/>
          </a:xfrm>
          <a:prstGeom prst="rightArrow">
            <a:avLst/>
          </a:prstGeom>
          <a:solidFill>
            <a:srgbClr val="4F5F66"/>
          </a:solidFill>
          <a:ln w="12700">
            <a:solidFill>
              <a:srgbClr val="4F5F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16459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1F4E5F"/>
          </a:solidFill>
          <a:ln w="19050">
            <a:solidFill>
              <a:srgbClr val="1F4E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0" y="16459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Plan engine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pure functions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07608" y="2057400"/>
            <a:ext cx="155448" cy="182880"/>
          </a:xfrm>
          <a:prstGeom prst="rightArrow">
            <a:avLst/>
          </a:prstGeom>
          <a:solidFill>
            <a:srgbClr val="4F5F66"/>
          </a:solidFill>
          <a:ln w="12700">
            <a:solidFill>
              <a:srgbClr val="4F5F6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72200" y="16459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1F4E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16459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5F"/>
                </a:solidFill>
              </a:rPr>
              <a:t>Plan store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4E5F"/>
                </a:solidFill>
              </a:rPr>
              <a:t>Postgres, versions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882128" y="2057400"/>
            <a:ext cx="155448" cy="182880"/>
          </a:xfrm>
          <a:prstGeom prst="rightArrow">
            <a:avLst/>
          </a:prstGeom>
          <a:solidFill>
            <a:srgbClr val="4F5F66"/>
          </a:solidFill>
          <a:ln w="12700">
            <a:solidFill>
              <a:srgbClr val="4F5F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46720" y="16459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1F4E5F"/>
          </a:solidFill>
          <a:ln w="19050">
            <a:solidFill>
              <a:srgbClr val="1F4E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0" y="16459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Document service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HTML/CSS → PDF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756648" y="2057400"/>
            <a:ext cx="155448" cy="182880"/>
          </a:xfrm>
          <a:prstGeom prst="rightArrow">
            <a:avLst/>
          </a:prstGeom>
          <a:solidFill>
            <a:srgbClr val="4F5F66"/>
          </a:solidFill>
          <a:ln w="12700">
            <a:solidFill>
              <a:srgbClr val="4F5F6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921240" y="16459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1F4E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21240" y="16459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5F"/>
                </a:solidFill>
              </a:rPr>
              <a:t>Secure storage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4E5F"/>
                </a:solidFill>
              </a:rPr>
              <a:t>signed links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27889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F5F66"/>
                </a:solidFill>
              </a:rPr>
              <a:t>Module library, knowledge repository and provider repository feed the plan engine; AI returns output in the same schema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55778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Choice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Contracts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Zod, exported as JSON Schema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One definition validates input and documents it for other teams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Engine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Pure TypeScript functions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Deterministic and testable; runs in the browser for previews and on the server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Data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Postgres: JSONB records plus an actions table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Flexible profiles; SQL for reminders, dashboards and reporting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Documents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HTML/CSS, headless Chromium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Designers change the look with CSS; paged media handles breaks and footers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Hosting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Vercel or a container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The demo runs on Vercel; a container is a drop-in swap at higher volume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9. FAMILY PROFILE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item in the brief, grouped the way the questionnaire will ask it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10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508760"/>
            <a:ext cx="6400800" cy="4206240"/>
          </a:xfrm>
          <a:prstGeom prst="rect">
            <a:avLst/>
          </a:prstGeom>
          <a:solidFill>
            <a:srgbClr val="163A47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"schemaVersion": "1.0", "profileId": "FP-JW8401",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"person":    { "firstName": "Joan", "age": 84, "region": "Nelson" },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"living":    { "situation": "alone", "homeType": "house" },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"support":   { "current": [...], "familySupport": "limited", "mainCarer": {...} },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"mobility":  { "level": "uses_aid", "fallsLast12Months": 2 },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"cognition": { "concern": "none", "diagnosis": "none" },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"hospital":  { "status": "none" },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"funding":   { "needsAssessment": "none", "residentialSubsidy": "..." },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"legal":     { "epoaProperty": "unsure", "epoaWelfare": "no" },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"future":    { "preference": "stay_home", "timeframe": "within_2_years" },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"extra":     { }   // new questions land here first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269480" y="155448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17 sections: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person, living, support, mobility, health, cognition, hospital, home safety, funding, legal, transport, social, respite, future, goals, notes, extra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Validated on every write,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with every problem reported by field path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Flexible: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unknown questions go into extra until the schema adopts them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Published as JSON Schema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for the questionnaire team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10. ACTION PLAN AND ACTIONS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recommendation is its own record, so it can be tracked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11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508760"/>
            <a:ext cx="6766560" cy="4206240"/>
          </a:xfrm>
          <a:prstGeom prst="rect">
            <a:avLst/>
          </a:prstGeom>
          <a:solidFill>
            <a:srgbClr val="163A47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"planId": "AP-JW8401", "version": "1.2",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"createdAt": "...", "updatedAt": "...", "profileHash": "...",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"priorities": [ { "title": "Make the home safer", "level": "now" } ],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"modules":    [ { "id": "falls-and-mobility", "noticed": [...],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"whyItMatters": "...", "questions": [...], "actionKeys": [...] } ],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"actions": [ 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"key": "falls-and-mobility:gp-falls-review",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"Book a GP falls review",   "priority": "now",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"timing": "Within 2 weeks",           "responsible": "Anna Whitaker",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"status": "in_progress",              "source": "rules",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"notes": "Appointment on Tuesday",    "createdAt": "...", "updatedAt": "..." } ],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"history": [ { "version": "1.1", "reason": "...", "changes": {...} } ] }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554480"/>
          <a:ext cx="4023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Not started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Default for new actions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In progress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Someone is on it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Waiting on third party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Assessor, lawyer, provider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Completed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Kept on record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No longer required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Retired, never deleted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589520" y="42062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323A"/>
                </a:solidFill>
              </a:rPr>
              <a:t>Sources: rules, AI, navigator or family, so every action's origin is always clear.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11. CONDITIONAL MODULES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Eighteen topics, written as data; a module that does not apply never appears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12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508760"/>
            <a:ext cx="5852160" cy="3383280"/>
          </a:xfrm>
          <a:prstGeom prst="rect">
            <a:avLst/>
          </a:prstGeom>
          <a:solidFill>
            <a:srgbClr val="163A47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"id": "falls-and-mobility",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"when": { "any": [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"field": "mobility.fallsLast12Months", "op": "gte", "value": 1 },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"field": "mobility.fearOfFalling", "op": "truthy" } ] },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"priority": { "default": "soon", "rules": [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"when": { "field": "mobility.fallsLast12Months",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"op": "gte", "value": 2 }, "level": "now" } ] },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"noticed": [ { "text": "{{name}} has had {{falls}} ..." } ],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"actions": [ { "id": "gp-falls-review", ... } ] }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675120" y="1508760"/>
            <a:ext cx="2468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Staying safely at home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Home care and support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Falls and mobility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Government funding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Needs assessment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Dementia and memory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Hospital discharge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Respite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Family carer support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EPOA and legal planning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Financial considerations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Transport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Social connection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Retirement villages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Residential care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Equipment and home changes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Emergency planning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2323A"/>
                </a:solidFill>
              </a:rPr>
              <a:t>Future planning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235440" y="1554480"/>
            <a:ext cx="2468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50" b="1" dirty="0">
                <a:solidFill>
                  <a:srgbClr val="1B2A30"/>
                </a:solidFill>
              </a:rPr>
              <a:t>Safe vocabulary: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22323A"/>
                </a:solidFill>
              </a:rPr>
              <a:t>eq, in, gte, truthy… with all, any, not; no code in content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50" b="1" dirty="0">
                <a:solidFill>
                  <a:srgbClr val="1B2A30"/>
                </a:solidFill>
              </a:rPr>
              <a:t>Standard format: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22323A"/>
                </a:solidFill>
              </a:rPr>
              <a:t>noticed, why, next steps, who can help, questions, information, sources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50" b="1" dirty="0">
                <a:solidFill>
                  <a:srgbClr val="1B2A30"/>
                </a:solidFill>
              </a:rPr>
              <a:t>Checked by tests: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22323A"/>
                </a:solidFill>
              </a:rPr>
              <a:t>every field a rule reads must exist in the profile schema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5074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323A"/>
                </a:solidFill>
              </a:rPr>
              <a:t>The admin Modules page adds a new module as JSON, validates it, and regenerates existing plans with it, without a code change.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12. PRIORITY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Families see first what needs doing now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13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7373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8E9E6"/>
          </a:solidFill>
          <a:ln w="12700">
            <a:solidFill>
              <a:srgbClr val="F8E9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737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23B2C"/>
                </a:solidFill>
              </a:rPr>
              <a:t>Now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737360" y="1645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737360" y="2103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F66"/>
                </a:solidFill>
              </a:rPr>
              <a:t>Safety, hospital discharge, carer exhaustion, EPOA while capacity remains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9260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7EEDC"/>
          </a:solidFill>
          <a:ln w="12700">
            <a:solidFill>
              <a:srgbClr val="F7EE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926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0"/>
                </a:solidFill>
              </a:rPr>
              <a:t>Soon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73736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Soon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737360" y="3291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F66"/>
                </a:solidFill>
              </a:rPr>
              <a:t>Assessments, support at home, funding applications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1148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5F1EC"/>
          </a:solidFill>
          <a:ln w="12700">
            <a:solidFill>
              <a:srgbClr val="E5F1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114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6A55"/>
                </a:solidFill>
              </a:rPr>
              <a:t>Plan ahead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73736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ahead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737360" y="4480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F66"/>
                </a:solidFill>
              </a:rPr>
              <a:t>Future living options, advance care planning, reviews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" y="512064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b="1" dirty="0">
                <a:solidFill>
                  <a:srgbClr val="1B2A30"/>
                </a:solidFill>
              </a:rPr>
              <a:t>Module rules set the level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323A"/>
                </a:solidFill>
              </a:rPr>
              <a:t>(two or more falls makes falls "Now")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b="1" dirty="0">
                <a:solidFill>
                  <a:srgbClr val="1B2A30"/>
                </a:solidFill>
              </a:rPr>
              <a:t>Actions can be more urgent than their topic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323A"/>
                </a:solidFill>
              </a:rPr>
              <a:t>(fitting smoke alarms is always "Now")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b="1" dirty="0">
                <a:solidFill>
                  <a:srgbClr val="1B2A30"/>
                </a:solidFill>
              </a:rPr>
              <a:t>Top 3 to 5 priorities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323A"/>
                </a:solidFill>
              </a:rPr>
              <a:t>lead the plan, in urgency order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b="1" dirty="0">
                <a:solidFill>
                  <a:srgbClr val="1B2A30"/>
                </a:solidFill>
              </a:rPr>
              <a:t>Label as well as colour,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323A"/>
                </a:solidFill>
              </a:rPr>
              <a:t>so priority survives black-and-white printing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735824" y="1563624"/>
            <a:ext cx="3168204" cy="4480560"/>
          </a:xfrm>
          <a:prstGeom prst="rect">
            <a:avLst/>
          </a:prstGeom>
          <a:solidFill>
            <a:srgbClr val="C9D2D5"/>
          </a:solidFill>
          <a:ln w="12700">
            <a:solidFill>
              <a:srgbClr val="C9D2D5"/>
            </a:solidFill>
            <a:prstDash val="solid"/>
          </a:ln>
        </p:spPr>
      </p:sp>
      <p:pic>
        <p:nvPicPr>
          <p:cNvPr id="23" name="Image 1" descr="/tmp/claude-1000/-home-ph-Client-Upwork-ritvia/b09148c5-7830-4dd8-977f-982890f12fbc/scratchpad/kfdeck/pa-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08760"/>
            <a:ext cx="3168204" cy="448056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680960" y="1508760"/>
            <a:ext cx="3168204" cy="4480560"/>
          </a:xfrm>
          <a:prstGeom prst="rect">
            <a:avLst/>
          </a:prstGeom>
          <a:ln w="12700">
            <a:solidFill>
              <a:srgbClr val="D8DEE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406640" y="6062472"/>
            <a:ext cx="37168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F5F66"/>
                </a:solidFill>
              </a:rPr>
              <a:t>Your plan at a glance, and top priorities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13. TRANSPARENT PROVIDER MATCHING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Options are shown because they match, and the plan says exactly how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14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645920"/>
            <a:ext cx="56692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78308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4E5F"/>
                </a:solidFill>
              </a:rPr>
              <a:t>Bayside Care at Home (sample provider)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6A55"/>
                </a:solidFill>
              </a:rPr>
              <a:t>Matches: Location: Bay of Plenty; Dementia support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23B2C"/>
                </a:solidFill>
              </a:rPr>
              <a:t>Does not match: Availability: waiting list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F5F66"/>
                </a:solidFill>
              </a:rPr>
              <a:t>To check: nothing further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0" y="160020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No "recommended" labels: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every option lists matched, unmatched and unconfirmed criteria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Criteria from the profile: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location, care level, dementia support, budget, availability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Only relevant topics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show options (home care, residential care, legal, equipment…)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The repository is a later stage;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the matcher already takes the shape it will provide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41148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323A"/>
                </a:solidFill>
              </a:rPr>
              <a:t>Providers in the demo are fictional sample data, labelled as such in every document.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14. A LIVING 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Circumstances change; families never start from scratch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15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pic>
        <p:nvPicPr>
          <p:cNvPr id="9" name="Image 1" descr="/tmp/claude-1000/-home-ph-Client-Upwork-ritvia/b09148c5-7830-4dd8-977f-982890f12fbc/scratchpad/kfdeck/06-vers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6035040" cy="37764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1463040"/>
            <a:ext cx="6126480" cy="3867912"/>
          </a:xfrm>
          <a:prstGeom prst="roundRect">
            <a:avLst>
              <a:gd name="adj" fmla="val 1182"/>
            </a:avLst>
          </a:prstGeom>
          <a:ln w="25400">
            <a:solidFill>
              <a:srgbClr val="1B2A3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903720" y="155448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Unique plan ID, created and updated dates, version number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(1.0, 1.1, 1.2…)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Regenerate after a change: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status, notes and owners carry forward by action key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Nothing silently disappears: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actions no longer needed are kept as "No longer required"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Navigator, family and AI actions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are never removed by regeneration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Every version is immutable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and records why it was made and what changed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323A"/>
                </a:solidFill>
              </a:rPr>
              <a:t>Example from the demo: marking EPOAs as in place retired two legal actions in version 1.2, while the smoke alarms completed in 1.1 stayed completed.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15. DOCUMENT GENERATION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data → HTML/CSS template → PDF, exactly as the brief prefers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16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1323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The PDF must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How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Have a consistent design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One stylesheet, embedded fonts (Atkinson Hyperlegible, Literata)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Handle short and long content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Flowing layout; tested from 7 to 22 pages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Handle automatic page breaks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Paged-media CSS: no split rows or cards, repeated table headers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Avoid text overflowing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Wrapping for long words and URLs; a test fails on any overflow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Remove irrelevant sections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Empty modules and fields are never printed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Work with variable numbers of actions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Tables and checklists grow with the data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Look professional printed or on screen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Tagged PDF, colour plus labels, A4 margins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Be easy to update visually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Change the CSS; every plan follows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284464" y="1517904"/>
            <a:ext cx="3168204" cy="4480560"/>
          </a:xfrm>
          <a:prstGeom prst="rect">
            <a:avLst/>
          </a:prstGeom>
          <a:solidFill>
            <a:srgbClr val="C9D2D5"/>
          </a:solidFill>
          <a:ln w="12700">
            <a:solidFill>
              <a:srgbClr val="C9D2D5"/>
            </a:solidFill>
            <a:prstDash val="solid"/>
          </a:ln>
        </p:spPr>
      </p:sp>
      <p:pic>
        <p:nvPicPr>
          <p:cNvPr id="11" name="Image 1" descr="/tmp/claude-1000/-home-ph-Client-Upwork-ritvia/b09148c5-7830-4dd8-977f-982890f12fbc/scratchpad/kfdeck/pl-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63040"/>
            <a:ext cx="3168204" cy="44805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0" y="1463040"/>
            <a:ext cx="3168204" cy="4480560"/>
          </a:xfrm>
          <a:prstGeom prst="rect">
            <a:avLst/>
          </a:prstGeom>
          <a:ln w="12700">
            <a:solidFill>
              <a:srgbClr val="D8DEE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955280" y="6016752"/>
            <a:ext cx="37168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F5F66"/>
                </a:solidFill>
              </a:rPr>
              <a:t>Long-content stress test: cover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16. THE FAMILY ACTION 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Cover, plan at a glance, next steps, topics, checklist, support and sources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17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" y="1517904"/>
            <a:ext cx="2974232" cy="4206240"/>
          </a:xfrm>
          <a:prstGeom prst="rect">
            <a:avLst/>
          </a:prstGeom>
          <a:solidFill>
            <a:srgbClr val="C9D2D5"/>
          </a:solidFill>
          <a:ln w="12700">
            <a:solidFill>
              <a:srgbClr val="C9D2D5"/>
            </a:solidFill>
            <a:prstDash val="solid"/>
          </a:ln>
        </p:spPr>
      </p:sp>
      <p:pic>
        <p:nvPicPr>
          <p:cNvPr id="10" name="Image 1" descr="/tmp/claude-1000/-home-ph-Client-Upwork-ritvia/b09148c5-7830-4dd8-977f-982890f12fbc/scratchpad/kfdeck/pa-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2974232" cy="42062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1463040"/>
            <a:ext cx="2974232" cy="4206240"/>
          </a:xfrm>
          <a:prstGeom prst="rect">
            <a:avLst/>
          </a:prstGeom>
          <a:ln w="12700">
            <a:solidFill>
              <a:srgbClr val="D8DEE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5742432"/>
            <a:ext cx="3522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F5F66"/>
                </a:solidFill>
              </a:rPr>
              <a:t>Cover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95344" y="1517904"/>
            <a:ext cx="2974232" cy="4206240"/>
          </a:xfrm>
          <a:prstGeom prst="rect">
            <a:avLst/>
          </a:prstGeom>
          <a:solidFill>
            <a:srgbClr val="C9D2D5"/>
          </a:solidFill>
          <a:ln w="12700">
            <a:solidFill>
              <a:srgbClr val="C9D2D5"/>
            </a:solidFill>
            <a:prstDash val="solid"/>
          </a:ln>
        </p:spPr>
      </p:sp>
      <p:pic>
        <p:nvPicPr>
          <p:cNvPr id="14" name="Image 2" descr="/tmp/claude-1000/-home-ph-Client-Upwork-ritvia/b09148c5-7830-4dd8-977f-982890f12fbc/scratchpad/kfdeck/pa-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463040"/>
            <a:ext cx="2974232" cy="42062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840480" y="1463040"/>
            <a:ext cx="2974232" cy="4206240"/>
          </a:xfrm>
          <a:prstGeom prst="rect">
            <a:avLst/>
          </a:prstGeom>
          <a:ln w="12700">
            <a:solidFill>
              <a:srgbClr val="D8DEE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566160" y="5742432"/>
            <a:ext cx="3522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F5F66"/>
                </a:solidFill>
              </a:rPr>
              <a:t>Plan at a glance and top priorities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095744" y="1517904"/>
            <a:ext cx="2974232" cy="4206240"/>
          </a:xfrm>
          <a:prstGeom prst="rect">
            <a:avLst/>
          </a:prstGeom>
          <a:solidFill>
            <a:srgbClr val="C9D2D5"/>
          </a:solidFill>
          <a:ln w="12700">
            <a:solidFill>
              <a:srgbClr val="C9D2D5"/>
            </a:solidFill>
            <a:prstDash val="solid"/>
          </a:ln>
        </p:spPr>
      </p:sp>
      <p:pic>
        <p:nvPicPr>
          <p:cNvPr id="18" name="Image 3" descr="/tmp/claude-1000/-home-ph-Client-Upwork-ritvia/b09148c5-7830-4dd8-977f-982890f12fbc/scratchpad/kfdeck/pm-0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463040"/>
            <a:ext cx="2974232" cy="4206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040880" y="1463040"/>
            <a:ext cx="2974232" cy="4206240"/>
          </a:xfrm>
          <a:prstGeom prst="rect">
            <a:avLst/>
          </a:prstGeom>
          <a:ln w="12700">
            <a:solidFill>
              <a:srgbClr val="D8DEE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766560" y="5742432"/>
            <a:ext cx="3522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F5F66"/>
                </a:solidFill>
              </a:rPr>
              <a:t>A topic, in the standard format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9326880" y="5852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F5F66"/>
                </a:solidFill>
              </a:rPr>
              <a:t>Sample: Joan Whitaker (fictional), 14 pages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17. CHECKLIST AND PROFESSIONAL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consolidated checklist for families, and one page for professionals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18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" y="1517904"/>
            <a:ext cx="2974232" cy="4206240"/>
          </a:xfrm>
          <a:prstGeom prst="rect">
            <a:avLst/>
          </a:prstGeom>
          <a:solidFill>
            <a:srgbClr val="C9D2D5"/>
          </a:solidFill>
          <a:ln w="12700">
            <a:solidFill>
              <a:srgbClr val="C9D2D5"/>
            </a:solidFill>
            <a:prstDash val="solid"/>
          </a:ln>
        </p:spPr>
      </p:sp>
      <p:pic>
        <p:nvPicPr>
          <p:cNvPr id="10" name="Image 1" descr="/tmp/claude-1000/-home-ph-Client-Upwork-ritvia/b09148c5-7830-4dd8-977f-982890f12fbc/scratchpad/kfdeck/pc-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2974232" cy="42062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1463040"/>
            <a:ext cx="2974232" cy="4206240"/>
          </a:xfrm>
          <a:prstGeom prst="rect">
            <a:avLst/>
          </a:prstGeom>
          <a:ln w="12700">
            <a:solidFill>
              <a:srgbClr val="D8DEE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5742432"/>
            <a:ext cx="3522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F5F66"/>
                </a:solidFill>
              </a:rPr>
              <a:t>Action checklist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95344" y="1517904"/>
            <a:ext cx="2974232" cy="4206240"/>
          </a:xfrm>
          <a:prstGeom prst="rect">
            <a:avLst/>
          </a:prstGeom>
          <a:solidFill>
            <a:srgbClr val="C9D2D5"/>
          </a:solidFill>
          <a:ln w="12700">
            <a:solidFill>
              <a:srgbClr val="C9D2D5"/>
            </a:solidFill>
            <a:prstDash val="solid"/>
          </a:ln>
        </p:spPr>
      </p:sp>
      <p:pic>
        <p:nvPicPr>
          <p:cNvPr id="14" name="Image 2" descr="/tmp/claude-1000/-home-ph-Client-Upwork-ritvia/b09148c5-7830-4dd8-977f-982890f12fbc/scratchpad/kfdeck/ps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463040"/>
            <a:ext cx="2974232" cy="42062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840480" y="1463040"/>
            <a:ext cx="2974232" cy="4206240"/>
          </a:xfrm>
          <a:prstGeom prst="rect">
            <a:avLst/>
          </a:prstGeom>
          <a:ln w="12700">
            <a:solidFill>
              <a:srgbClr val="D8DEE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566160" y="5742432"/>
            <a:ext cx="3522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F5F66"/>
                </a:solidFill>
              </a:rPr>
              <a:t>Professional Summary (1 page)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223760" y="1554480"/>
            <a:ext cx="4480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Summary covers every item in the brief: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living situation, support, mobility, events, concerns, goals, services, assessments, EPOA, priorities, actions underway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Same record, second template: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no duplicate data entry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Fits on one page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for all seven test families, including the stress case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18. ADMIN AND TESTING INTERFACE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or upload, preview, generate, change and regenerate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19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pic>
        <p:nvPicPr>
          <p:cNvPr id="9" name="Image 1" descr="/tmp/claude-1000/-home-ph-Client-Upwork-ritvia/b09148c5-7830-4dd8-977f-982890f12fbc/scratchpad/kfdeck/02-worksp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5486400" cy="3429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1463040"/>
            <a:ext cx="5577840" cy="3520440"/>
          </a:xfrm>
          <a:prstGeom prst="roundRect">
            <a:avLst>
              <a:gd name="adj" fmla="val 1299"/>
            </a:avLst>
          </a:prstGeom>
          <a:ln w="25400">
            <a:solidFill>
              <a:srgbClr val="1B2A30"/>
            </a:solidFill>
            <a:prstDash val="solid"/>
          </a:ln>
        </p:spPr>
      </p:sp>
      <p:pic>
        <p:nvPicPr>
          <p:cNvPr id="11" name="Image 2" descr="/tmp/claude-1000/-home-ph-Client-Upwork-ritvia/b09148c5-7830-4dd8-977f-982890f12fbc/scratchpad/kfdeck/07-docum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5486400" cy="34290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263640" y="1463040"/>
            <a:ext cx="5577840" cy="3520440"/>
          </a:xfrm>
          <a:prstGeom prst="roundRect">
            <a:avLst>
              <a:gd name="adj" fmla="val 1299"/>
            </a:avLst>
          </a:prstGeom>
          <a:ln w="25400">
            <a:solidFill>
              <a:srgbClr val="1B2A3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Load one of seven test families,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or paste or upload a profile; invalid data is listed field by field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Preview both documents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in the browser, then download the exact PDF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Edit progress, change the profile, regenerate,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compare versions, add modules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19. DUMMY TEST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scenarios from the brief, plus a long-content stress test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20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914400"/>
                <a:gridCol w="914400"/>
                <a:gridCol w="1188720"/>
                <a:gridCol w="109728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family (fictional)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Topics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Plan pages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Summary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First priority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Living alone after two falls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 page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Make the home safer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Dementia and an exhausted spouse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 page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Make the home safer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Hospital discharge after a hip fracture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 page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Get the right help at home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Healthy couple planning ahead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 page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Put legal decision-making in place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Family considering residential care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27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 page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Plan a safe return home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Worried about funding and affordability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 page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Check the funding available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Long-content stress test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37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 page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Make the home safer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323A"/>
                </a:solidFill>
              </a:rPr>
              <a:t>Tests assert the expected topics and priorities for each family, and render every PDF to check page counts and overflow.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20. READY FOR AI, NOT DEPENDENT ON 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AI output goes through the same checks as everything else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21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pic>
        <p:nvPicPr>
          <p:cNvPr id="9" name="Image 1" descr="/tmp/claude-1000/-home-ph-Client-Upwork-ritvia/b09148c5-7830-4dd8-977f-982890f12fbc/scratchpad/kfdeck/09-d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5852160" cy="3657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1463040"/>
            <a:ext cx="5943600" cy="3749040"/>
          </a:xfrm>
          <a:prstGeom prst="roundRect">
            <a:avLst>
              <a:gd name="adj" fmla="val 1220"/>
            </a:avLst>
          </a:prstGeom>
          <a:ln w="25400">
            <a:solidFill>
              <a:srgbClr val="1B2A3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766560" y="15544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Same contract: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a model returns an action or text in the published schema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Validated first: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wrong or missing fields are rejected with their paths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Marked source: ai,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so it is always visible and reviewable by a person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Never overwritten silently: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AI actions survive regeneration like navigator actions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766560" y="48463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323A"/>
                </a:solidFill>
              </a:rPr>
              <a:t>Related work: a multi-agent sponsorship platform (9-20-ai-sponsorship.vercel.app) where eight agents return schema-checked output that a person approves before it is used.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21. SECURITY AND PRIVACY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in from the start, as the brief asks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22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840480"/>
                <a:gridCol w="420624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Proof of concept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Production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Protected admin access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Signed httpOnly session, rate-limited sign-in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Identity provider, per-user roles, MFA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No public family information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Every page and API behind sign-in; noindex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Same, plus tenant separation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Secure file and document storage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PDFs streamed, never written to disk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Encrypted object storage, retention policy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No personal data in logs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Allow-list logger (IDs, counts, timings only)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Same, with log retention limits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Secure document links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Download only inside a session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Signed links that expire, with access audit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Temporary files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Rendered in memory; JavaScript off in the renderer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Same; no shared temp storage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323A"/>
                </a:solidFill>
              </a:rPr>
              <a:t>Personal health information in New Zealand falls under the Privacy Act 2020 and the Health Information Privacy Code; real data should only arrive after storage, retention and access policies are agreed.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22. TESTING AND QUALITY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that the foundation holds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23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5544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6642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39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31520" y="21762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automated tests: engine, documents, API, security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15544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16642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7 / 7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566160" y="21762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families rendered to PDF with no overflow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15544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16642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23B2C"/>
                </a:solidFill>
              </a:rPr>
              <a:t>5 / 5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400800" y="21762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deliberately broken rules caught by the tests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52560" y="15544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35440" y="16642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0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235440" y="21762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sideways scrolling on the console at phone width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301752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Content integrity: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every field a module reads exists; every source cited exists; no unfilled placeholders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Engine: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expected topics and priorities per family; progress carried over; retired actions kept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Documents: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escaping, omitted sections, every action in table and checklist, summary within 2 pages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Security: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unauthenticated access blocked, rate limiting, logs free of personal data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1B2A30"/>
                </a:solidFill>
              </a:rPr>
              <a:t>Found and fixed during the build: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2323A"/>
                </a:solidFill>
              </a:rPr>
              <a:t>a wording bug, a summary spilling to page 2, and a phone-width layout issue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23. FUTURE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in the design blocks the later stages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24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System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How it connects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Online questionnaire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Posts answers; a mapper builds and validates the Family Profile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AI analysis and decision engine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Return output in the Action Plan schema; validated, marked, reviewed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Knowledge repository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Supplies information items and sources by ID, with review dates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Provider repository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Feeds the transparent matcher already in place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CRM and database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Plans and versions in Postgres; the CRM references plan IDs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Family and navigator dashboards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Read plans and the actions table through the API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Follow-ups, email and SMS reminders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Driven by action timing, status and owner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Paid implementation and subscriptions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Sit alongside the plan; reference plan and action IDs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24. MVP STAGES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six weeks, with architecture approved before any build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25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06240" y="1508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5F66"/>
                </a:solidFill>
              </a:rPr>
              <a:t>Week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06240" y="1828800"/>
            <a:ext cx="0" cy="3931920"/>
          </a:xfrm>
          <a:prstGeom prst="line">
            <a:avLst/>
          </a:prstGeom>
          <a:noFill/>
          <a:ln w="12700">
            <a:solidFill>
              <a:srgbClr val="D8DEE0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5440680" y="1508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5F66"/>
                </a:solidFill>
              </a:rPr>
              <a:t>Week 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40680" y="1828800"/>
            <a:ext cx="0" cy="3931920"/>
          </a:xfrm>
          <a:prstGeom prst="line">
            <a:avLst/>
          </a:prstGeom>
          <a:noFill/>
          <a:ln w="12700">
            <a:solidFill>
              <a:srgbClr val="D8DEE0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6675120" y="1508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5F66"/>
                </a:solidFill>
              </a:rPr>
              <a:t>Week 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1828800"/>
            <a:ext cx="0" cy="3931920"/>
          </a:xfrm>
          <a:prstGeom prst="line">
            <a:avLst/>
          </a:prstGeom>
          <a:noFill/>
          <a:ln w="12700">
            <a:solidFill>
              <a:srgbClr val="D8DEE0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7909560" y="1508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5F66"/>
                </a:solidFill>
              </a:rPr>
              <a:t>Week 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09560" y="1828800"/>
            <a:ext cx="0" cy="3931920"/>
          </a:xfrm>
          <a:prstGeom prst="line">
            <a:avLst/>
          </a:prstGeom>
          <a:noFill/>
          <a:ln w="12700">
            <a:solidFill>
              <a:srgbClr val="D8DEE0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9144000" y="1508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5F66"/>
                </a:solidFill>
              </a:rPr>
              <a:t>Week 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144000" y="1828800"/>
            <a:ext cx="0" cy="3931920"/>
          </a:xfrm>
          <a:prstGeom prst="line">
            <a:avLst/>
          </a:prstGeom>
          <a:noFill/>
          <a:ln w="12700">
            <a:solidFill>
              <a:srgbClr val="D8DEE0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10378440" y="1508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5F66"/>
                </a:solidFill>
              </a:rPr>
              <a:t>Week 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378440" y="1828800"/>
            <a:ext cx="0" cy="3931920"/>
          </a:xfrm>
          <a:prstGeom prst="line">
            <a:avLst/>
          </a:prstGeom>
          <a:noFill/>
          <a:ln w="12700">
            <a:solidFill>
              <a:srgbClr val="D8DEE0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48640" y="19202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Architecture and schema sign-off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251960" y="1975104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F4E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51960" y="197510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10 h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8640" y="23957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Plan engine and module framework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251960" y="2450592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E0A4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51960" y="24505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0"/>
                </a:solidFill>
              </a:rPr>
              <a:t>24 h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48640" y="28712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Module content from your repository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0" y="2926080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1F4E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0" y="29260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16 h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48640" y="334670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Document templates and PDF service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486400" y="3401568"/>
            <a:ext cx="3611880" cy="292608"/>
          </a:xfrm>
          <a:prstGeom prst="roundRect">
            <a:avLst>
              <a:gd name="adj" fmla="val 15625"/>
            </a:avLst>
          </a:prstGeom>
          <a:solidFill>
            <a:srgbClr val="E0A4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0" y="340156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0"/>
                </a:solidFill>
              </a:rPr>
              <a:t>26 h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48640" y="38221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Storage, versions and admin console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720840" y="3877056"/>
            <a:ext cx="3611880" cy="292608"/>
          </a:xfrm>
          <a:prstGeom prst="roundRect">
            <a:avLst>
              <a:gd name="adj" fmla="val 15625"/>
            </a:avLst>
          </a:prstGeom>
          <a:solidFill>
            <a:srgbClr val="1F4E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20840" y="387705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22 h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48640" y="42976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Security: access, storage, links, audit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7955280" y="4352544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E0A4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955280" y="43525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0"/>
                </a:solidFill>
              </a:rPr>
              <a:t>12 h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48640" y="47731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Test cases, PDF checks and fixes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9189720" y="4828032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1F4E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189720" y="48280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12 h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48640" y="52486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3A"/>
                </a:solidFill>
              </a:rPr>
              <a:t>Technical documentation and handover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10424160" y="530352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E0A4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424160" y="530352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0"/>
                </a:solidFill>
              </a:rPr>
              <a:t>8 h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323A"/>
                </a:solidFill>
              </a:rPr>
              <a:t>Approval points: architecture and schemas (week 1), first plan and PDF from a test family (week 3), full console with versions (week 5), handover (week 6).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25. MVP ESTIMATE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 hours (planning rate $40/h, to be agreed)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26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9" name="Chart 0" descr=""/>
          <p:cNvGraphicFramePr/>
          <p:nvPr/>
        </p:nvGraphicFramePr>
        <p:xfrm>
          <a:off x="457200" y="146304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554480"/>
          <a:ext cx="4114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MVP hours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130 h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At the planning rate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$5,200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Hosting in the MVP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Your accounts, at cost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Paid in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Milestones per stage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Change control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New scope priced first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7498080" y="46177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323A"/>
                </a:solidFill>
              </a:rPr>
              <a:t>Much of this is already de-risked by the proof of concept. The largest remaining pieces are your module content, production storage and security.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26. LONG-TERM BUILD-OUT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Indicative ranges for the later stages, to be scoped one at a time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27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548640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adds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Indicative hours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Online questionnaire and mapper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Families answer online; answers become a validated profile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40–60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AI analysis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Suggested actions and wording, validated and reviewed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40–80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Knowledge repository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Managed information and sources with review dates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60–100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Provider repository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Provider data behind the transparent matcher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40–70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Family and navigator dashboards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Live plans, progress, messages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80–120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Follow-ups and reminders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Email and SMS driven by action timing and status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30–50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Payments and subscriptions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Paid implementation support and ongoing plans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40–60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323A"/>
                </a:solidFill>
              </a:rPr>
              <a:t>Ranges are planning figures at the same rate, not quotes; each stage gets its own scope and estimate before work starts.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27. BUSINESS CASE: ASSUMPTIONS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Navigator time is the main cost the system reduces (illustrative)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28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011680"/>
                <a:gridCol w="48463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Assumption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New plans per month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Illustrative; replace with your forecast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Navigator time per plan, written by hand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3 h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Research, writing and formatting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Navigator time per plan, with the system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0.75 h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Checking data, reviewing and adjusting the generated plan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Plan updates per month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After changes in circumstances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Time per update, by hand vs with the system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1.5 h vs 0.25 h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Regenerate instead of rewrite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Navigator cost per hour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$55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Loaded cost, illustrative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MVP build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$5,200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130 h at the planning rate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Hosting, first year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$600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Database, storage, PDF rendering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323A"/>
                </a:solidFill>
              </a:rPr>
              <a:t>Planning figures, not claims about your service. The first call replaces them with your numbers.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28. BUSINESS CASE: RESULT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back for navigators to spend with families (illustrative)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29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9" name="Chart 0" descr=""/>
          <p:cNvGraphicFramePr/>
          <p:nvPr/>
        </p:nvGraphicFramePr>
        <p:xfrm>
          <a:off x="548640" y="146304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6766560" y="15544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949440" y="16642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1,380 h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694944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navigator hours saved a year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9326880" y="15544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509760" y="16642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$75,900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950976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value of that time, year 1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766560" y="28346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949440" y="29443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1 month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6949440" y="34564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to recover the build cost at these assumptions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326880" y="28346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7EFF1"/>
          </a:solidFill>
          <a:ln w="12700">
            <a:solidFill>
              <a:srgbClr val="CBD8C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509760" y="29443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23B2C"/>
                </a:solidFill>
              </a:rPr>
              <a:t>Consistent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9509760" y="34564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F66"/>
                </a:solidFill>
              </a:rPr>
              <a:t>quality across every family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766560" y="42062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323A"/>
                </a:solidFill>
              </a:rPr>
              <a:t>The harder-to-count gains matter as much: every family gets the same standard of plan, updates take minutes, and the data supports dashboards and paid follow-up later.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29. RISKS AND MITIGATION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go wrong, and the plan for each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30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  <a:gridCol w="603504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Schema needs to change after build starts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Sign-off in week 1; the extra field and versioned schemas absorb new questions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Module content not ready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The framework works with placeholder text; content drops in as data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PDF edge cases with real content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Stress case in the test suite; add real examples as they appear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Serverless PDF limits at volume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Move the document service to a container with no code change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Privacy incident with real data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Real data only after storage, retention and access controls are live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23A"/>
                          </a:solidFill>
                        </a:rPr>
                        <a:t>Over-building the first version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23A"/>
                          </a:solidFill>
                        </a:rPr>
                        <a:t>MVP scope fixed; later stages scoped separately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3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F4E5F">
              <a:alpha val="60000"/>
            </a:srgbClr>
          </a:solidFill>
          <a:ln/>
        </p:spPr>
      </p:sp>
      <p:pic>
        <p:nvPicPr>
          <p:cNvPr id="3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768096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Valdis Licis · Full-stack and document systems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1520" y="201168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step: agree the architecture and schemas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5852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CFE0E5"/>
                </a:solidFill>
              </a:rPr>
              <a:t>Review the Family Profile and Action Plan schemas together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CFE0E5"/>
                </a:solidFill>
              </a:rPr>
              <a:t>Pick the first test scenario to perfect end to end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CFE0E5"/>
                </a:solidFill>
              </a:rPr>
              <a:t>Share the module content you already have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CFE0E5"/>
                </a:solidFill>
              </a:rPr>
              <a:t>Agree hosting, storage and who needs admin access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CFE0E5"/>
                </a:solidFill>
              </a:rPr>
              <a:t>Confirm the planning rate and milestone schedule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C9CF"/>
                </a:solidFill>
              </a:rPr>
              <a:t>Prepared by Valdis Licis</a:t>
            </a:r>
            <a:endParaRPr lang="en-US" sz="1100" dirty="0"/>
          </a:p>
        </p:txBody>
      </p:sp>
      <p:pic>
        <p:nvPicPr>
          <p:cNvPr id="8" name="Image 1" descr="/tmp/claude-1000/-home-ph-Client-Upwork-ritvia/b09148c5-7830-4dd8-977f-982890f12fbc/scratchpad/kfdeck/03-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663440" cy="29169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903720" y="1417320"/>
            <a:ext cx="4754880" cy="3008376"/>
          </a:xfrm>
          <a:prstGeom prst="roundRect">
            <a:avLst>
              <a:gd name="adj" fmla="val 1520"/>
            </a:avLst>
          </a:prstGeom>
          <a:ln w="25400">
            <a:solidFill>
              <a:srgbClr val="1B2A3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949440" y="4572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5C9CF"/>
                </a:solidFill>
              </a:rPr>
              <a:t>The proof of concept: plan overview for a fictional family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E5F"/>
                </a:solidFill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3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and notes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8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F66"/>
                </a:solidFill>
              </a:rPr>
              <a:t>Kinfield proof of concept · Action Plan system: technical and business plan · 32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7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Figure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One million people aged 65+ by 2028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Stats NZ, "One million people aged 65+ by 2028"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65+ could reach 1.5 million by the 2050s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Stats NZ, National population projections 2024(base)–2078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83,000 people with dementia in 2025; about 170,000 by 2050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Alzheimers New Zealand, facts and figures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53 million hours of unpaid care a year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Alzheimers New Zealand, facts and figures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Plan content (subsidies, EPOA, respite, villages)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Health NZ, Work and Income, Te Tari Kaumātua, MSD, Retirement Commission and others; cited in each plan with review dates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Test results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Own runs on 22 September 2026; tests and scripts in the repository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23A"/>
                          </a:solidFill>
                        </a:rPr>
                        <a:t>Rates, hours and business case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23A"/>
                          </a:solidFill>
                        </a:rPr>
                        <a:t>Planning figures to be agreed; illustrative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323A"/>
                </a:solidFill>
              </a:rPr>
              <a:t>Kinfield Navigator, the families and the providers in this document are fictional and exist only to demonstrate the system.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Valdis Licis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Personalised Action Plan system: technical and business plan</dc:title>
  <dc:subject>PptxGenJS Presentation</dc:subject>
  <dc:creator>Valdis Licis</dc:creator>
  <cp:lastModifiedBy>Valdis Licis</cp:lastModifiedBy>
  <cp:revision>1</cp:revision>
  <dcterms:created xsi:type="dcterms:W3CDTF">2026-09-22T10:52:49Z</dcterms:created>
  <dcterms:modified xsi:type="dcterms:W3CDTF">2026-09-22T10:52:49Z</dcterms:modified>
</cp:coreProperties>
</file>